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9ea13dc5d40d6" /><Relationship Type="http://schemas.openxmlformats.org/officeDocument/2006/relationships/extended-properties" Target="/docProps/app.xml" Id="Re50afc74e11d4bec" /><Relationship Type="http://schemas.openxmlformats.org/officeDocument/2006/relationships/officeDocument" Target="/ppt/presentation.xml" Id="R8bf73438dc5549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5fd464dc8c4b90"/>
  </p:sldMasterIdLst>
  <p:notesMasterIdLst>
    <p:notesMasterId xmlns:r="http://schemas.openxmlformats.org/officeDocument/2006/relationships" r:id="R40a78b4e78384ac2"/>
  </p:notesMasterIdLst>
  <p:sldIdLst>
    <p:sldId xmlns:r="http://schemas.openxmlformats.org/officeDocument/2006/relationships" id="256" r:id="R573b28cfe5cb4b1d"/>
    <p:sldId xmlns:r="http://schemas.openxmlformats.org/officeDocument/2006/relationships" id="257" r:id="R0a13629c1c0b466c"/>
    <p:sldId xmlns:r="http://schemas.openxmlformats.org/officeDocument/2006/relationships" id="258" r:id="Ra083bfb1b3724c77"/>
    <p:sldId xmlns:r="http://schemas.openxmlformats.org/officeDocument/2006/relationships" id="259" r:id="R834e948fcb3f4e29"/>
    <p:sldId xmlns:r="http://schemas.openxmlformats.org/officeDocument/2006/relationships" id="260" r:id="R4f801cc88ceb48ca"/>
    <p:sldId xmlns:r="http://schemas.openxmlformats.org/officeDocument/2006/relationships" id="261" r:id="R537ebd1da7dd4f51"/>
    <p:sldId xmlns:r="http://schemas.openxmlformats.org/officeDocument/2006/relationships" id="262" r:id="Rb7864388625b46ce"/>
    <p:sldId xmlns:r="http://schemas.openxmlformats.org/officeDocument/2006/relationships" id="263" r:id="R2e271bc16ccf42dc"/>
    <p:sldId xmlns:r="http://schemas.openxmlformats.org/officeDocument/2006/relationships" id="264" r:id="R9e65bb1151cc4d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43aaceb5924ce1" /><Relationship Type="http://schemas.openxmlformats.org/officeDocument/2006/relationships/slideMaster" Target="/ppt/slideMasters/slideMaster1.xml" Id="R255fd464dc8c4b90" /><Relationship Type="http://schemas.openxmlformats.org/officeDocument/2006/relationships/notesMaster" Target="/ppt/notesMasters/notesMaster1.xml" Id="R40a78b4e78384ac2" /><Relationship Type="http://schemas.openxmlformats.org/officeDocument/2006/relationships/presProps" Target="/ppt/presProps.xml" Id="R0d66504370d14810" /><Relationship Type="http://schemas.openxmlformats.org/officeDocument/2006/relationships/tableStyles" Target="/ppt/tableStyles.xml" Id="Rdff620c2351643b4" /><Relationship Type="http://schemas.openxmlformats.org/officeDocument/2006/relationships/slide" Target="/ppt/slides/slide1.xml" Id="R573b28cfe5cb4b1d" /><Relationship Type="http://schemas.openxmlformats.org/officeDocument/2006/relationships/slide" Target="/ppt/slides/slide2.xml" Id="R0a13629c1c0b466c" /><Relationship Type="http://schemas.openxmlformats.org/officeDocument/2006/relationships/slide" Target="/ppt/slides/slide3.xml" Id="Ra083bfb1b3724c77" /><Relationship Type="http://schemas.openxmlformats.org/officeDocument/2006/relationships/slide" Target="/ppt/slides/slide4.xml" Id="R834e948fcb3f4e29" /><Relationship Type="http://schemas.openxmlformats.org/officeDocument/2006/relationships/slide" Target="/ppt/slides/slide5.xml" Id="R4f801cc88ceb48ca" /><Relationship Type="http://schemas.openxmlformats.org/officeDocument/2006/relationships/slide" Target="/ppt/slides/slide6.xml" Id="R537ebd1da7dd4f51" /><Relationship Type="http://schemas.openxmlformats.org/officeDocument/2006/relationships/slide" Target="/ppt/slides/slide7.xml" Id="Rb7864388625b46ce" /><Relationship Type="http://schemas.openxmlformats.org/officeDocument/2006/relationships/slide" Target="/ppt/slides/slide8.xml" Id="R2e271bc16ccf42dc" /><Relationship Type="http://schemas.openxmlformats.org/officeDocument/2006/relationships/slide" Target="/ppt/slides/slide9.xml" Id="R9e65bb1151cc4d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c9f3059a7840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6542bcd8b747bf" /><Relationship Type="http://schemas.openxmlformats.org/officeDocument/2006/relationships/notesMaster" Target="/ppt/notesMasters/notesMaster1.xml" Id="Rcffa864b907d4b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c8282dca6948ac" /><Relationship Type="http://schemas.openxmlformats.org/officeDocument/2006/relationships/notesMaster" Target="/ppt/notesMasters/notesMaster1.xml" Id="R2ad9358b6a724a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ff2c51204b44d1" /><Relationship Type="http://schemas.openxmlformats.org/officeDocument/2006/relationships/notesMaster" Target="/ppt/notesMasters/notesMaster1.xml" Id="Rffaad83d50d44c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ac4ede2d05401b" /><Relationship Type="http://schemas.openxmlformats.org/officeDocument/2006/relationships/notesMaster" Target="/ppt/notesMasters/notesMaster1.xml" Id="R90ebb99a7ad747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1988f9e473478b" /><Relationship Type="http://schemas.openxmlformats.org/officeDocument/2006/relationships/notesMaster" Target="/ppt/notesMasters/notesMaster1.xml" Id="Raa5b1af72e0645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f7a4a877264634" /><Relationship Type="http://schemas.openxmlformats.org/officeDocument/2006/relationships/notesMaster" Target="/ppt/notesMasters/notesMaster1.xml" Id="Rb4286d4fc0ae44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d8e195b03443e3" /><Relationship Type="http://schemas.openxmlformats.org/officeDocument/2006/relationships/notesMaster" Target="/ppt/notesMasters/notesMaster1.xml" Id="R4751e095f2894a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e5afafdf9f43ad" /><Relationship Type="http://schemas.openxmlformats.org/officeDocument/2006/relationships/notesMaster" Target="/ppt/notesMasters/notesMaster1.xml" Id="R83f9bd50894d42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08a5f0eb4849bf" /><Relationship Type="http://schemas.openxmlformats.org/officeDocument/2006/relationships/notesMaster" Target="/ppt/notesMasters/notesMaster1.xml" Id="Raa3e82c4a58540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supplied project implementation and curriculum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project source code and supplied curriculum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project source code and supplied curriculum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project source code and supplied curriculum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project source code and supplied curriculum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supplied workbook “26년 포스코퓨처엠 AI활용전문가 과정 기술계 커리큘럼 (1).xlsx”; project source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project source code and supplied curriculum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project source code and supplied curriculum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project source code and supplied curriculum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17270039041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b84e00dd93421d" /><Relationship Type="http://schemas.openxmlformats.org/officeDocument/2006/relationships/slideLayout" Target="/ppt/slideLayouts/slideLayout1.xml" Id="R0a01bf92c28c43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01bf92c28c43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b7704aa244f3a" /><Relationship Type="http://schemas.openxmlformats.org/officeDocument/2006/relationships/image" Target="/ppt/media/image.jpeg" Id="R4b04c2bda88349fe" /><Relationship Type="http://schemas.openxmlformats.org/officeDocument/2006/relationships/notesSlide" Target="/ppt/notesSlides/notesSlide1.xml" Id="R7a5feaf323ef4a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d9222cbaf4f06" /><Relationship Type="http://schemas.openxmlformats.org/officeDocument/2006/relationships/notesSlide" Target="/ppt/notesSlides/notesSlide2.xml" Id="R17c111ec682a43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f1172629b4179" /><Relationship Type="http://schemas.openxmlformats.org/officeDocument/2006/relationships/notesSlide" Target="/ppt/notesSlides/notesSlide3.xml" Id="R05d32b9e0d0f46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a4f1c5a1749cb" /><Relationship Type="http://schemas.openxmlformats.org/officeDocument/2006/relationships/notesSlide" Target="/ppt/notesSlides/notesSlide4.xml" Id="Rdb8b815a6bee41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2f4fddb4346e2" /><Relationship Type="http://schemas.openxmlformats.org/officeDocument/2006/relationships/notesSlide" Target="/ppt/notesSlides/notesSlide5.xml" Id="Rea8d4337726643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aafcc36f741e9" /><Relationship Type="http://schemas.openxmlformats.org/officeDocument/2006/relationships/notesSlide" Target="/ppt/notesSlides/notesSlide6.xml" Id="R9bf02127af6841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05b50c7cf4e00" /><Relationship Type="http://schemas.openxmlformats.org/officeDocument/2006/relationships/notesSlide" Target="/ppt/notesSlides/notesSlide7.xml" Id="Rdd39021af84940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82ae33bed402e" /><Relationship Type="http://schemas.openxmlformats.org/officeDocument/2006/relationships/notesSlide" Target="/ppt/notesSlides/notesSlide8.xml" Id="R864371bc6a9242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088cd7d314faa" /><Relationship Type="http://schemas.openxmlformats.org/officeDocument/2006/relationships/notesSlide" Target="/ppt/notesSlides/notesSlide9.xml" Id="R9c5f34453971496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82F"/>
            </a:gs>
            <a:gs pos="58000">
              <a:srgbClr val="092A55"/>
            </a:gs>
            <a:gs pos="100000">
              <a:srgbClr val="147DA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8408A-6939-4C52-A972-ABC0ABCB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8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4c2bda88349fe"/>
          <a:stretch xmlns:a="http://schemas.openxmlformats.org/drawingml/2006/main"/>
        </p:blipFill>
        <p:spPr>
          <a:xfrm xmlns:a="http://schemas.openxmlformats.org/drawingml/2006/main">
            <a:off x="666750" y="1323430"/>
            <a:ext cx="4953000" cy="123934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41F5F-F2AA-44E4-89ED-2F827F06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AI로 도면 검토의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근거와 흐름을 연결하다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7B7C9-56A2-4AE3-809C-782BBCE0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FEEFF"/>
                </a:solidFill>
              </a:defRPr>
            </a:pPr>
            <a:r>
              <a:rPr sz="1800" b="1">
                <a:solidFill>
                  <a:srgbClr val="BFEEFF"/>
                </a:solidFill>
              </a:rPr>
              <a:t>Ai ENG Agent</a:t>
            </a:r>
          </a:p>
          <a:p xmlns:a="http://schemas.openxmlformats.org/drawingml/2006/main">
            <a:pPr algn="l">
              <a:defRPr sz="1800" b="1">
                <a:solidFill>
                  <a:srgbClr val="BFEEFF"/>
                </a:solidFill>
              </a:defRPr>
            </a:pPr>
            <a:r>
              <a:rPr sz="1800" b="1">
                <a:solidFill>
                  <a:srgbClr val="BFEEFF"/>
                </a:solidFill>
              </a:rPr>
              <a:t>Engineering Review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C3546-731C-414A-8EF6-4F137499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현업 문제 정의 → 멀티모달 분석 → 법규 RAG → 규칙 검증 → 보고서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06989-E5BC-434C-8AA7-AAC2EA0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7212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CFF"/>
                </a:solidFill>
              </a:defRPr>
            </a:pPr>
            <a:r>
              <a:rPr sz="1125" b="0">
                <a:solidFill>
                  <a:srgbClr val="D9ECFF"/>
                </a:solidFill>
              </a:rPr>
              <a:t>2026년 8월 20일  |  포스코퓨처엠 AI활용전문가 과정</a:t>
            </a:r>
          </a:p>
        </p:txBody>
      </p:sp>
    </p:spTree>
    <p:extLst>
      <p:ext uri="{BB962C8B-B14F-4D97-AF65-F5344CB8AC3E}">
        <p14:creationId xmlns:p14="http://schemas.microsoft.com/office/powerpoint/2010/main" val="495580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6E54E-45A4-4449-85F9-AA1091F4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1428C-5077-4A5F-A507-DE566667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A7"/>
                </a:solidFill>
              </a:defRPr>
            </a:pPr>
            <a:r>
              <a:rPr sz="900" b="1">
                <a:solidFill>
                  <a:srgbClr val="147DA7"/>
                </a:solidFill>
              </a:rPr>
              <a:t>01  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D9EF5-069F-4E03-87D4-475BBB01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A55"/>
                </a:solidFill>
              </a:defRPr>
            </a:pPr>
            <a:r>
              <a:rPr sz="2700" b="1">
                <a:solidFill>
                  <a:srgbClr val="092A55"/>
                </a:solidFill>
              </a:rPr>
              <a:t>도면 검토의 병목은 “AI가 없다”가 아니라 “근거가 연결되지 않는다”였다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09455-0BE9-4890-8A5A-577989BC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8F898-04B7-4F77-BE6A-A90011E1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8"/>
                </a:solidFill>
              </a:defRPr>
            </a:pPr>
            <a:r>
              <a:rPr sz="750" b="0">
                <a:solidFill>
                  <a:srgbClr val="5D7088"/>
                </a:solidFill>
              </a:rPr>
              <a:t>Ai ENG Agent  ·  FutureM AI 활용전문가 과정  ·  2026.08.20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D6A0A-C5AB-4CE6-ACBC-5300D8B7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088"/>
                </a:solidFill>
              </a:defRPr>
            </a:pPr>
            <a:r>
              <a:rPr sz="900" b="1">
                <a:solidFill>
                  <a:srgbClr val="5D708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64285-785C-49DE-92C0-6EE03171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현업 도면 검토는 이미지·문서·법규·수치·보고서가 분리되어 있어, 검토자의 재확인 비용이 반복된다.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55DBE-0939-4F05-B9AB-3A0B27A4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A2784-93C6-40E0-A62F-12533CD0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88FCA-4C1D-4E62-BB24-EBF236A5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도면은 보이지만 판단 근거가 흩어짐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D4A2D-C6E0-49D5-959E-E5810509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990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다중 페이지 PDF에서 도면 위치·페이지·주석과 검토의견을 다시 대조해야 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D38E2-514A-4030-ADD6-018ED005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85A67-EFCE-4906-B5AD-5313B846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C2773-2609-4EA9-B60F-A2C5E524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OCR만으로는 공간관계를 놓침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88A0C-446C-46CC-9BDD-ACB4EF17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2990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텍스트는 읽어도 헤드 배치, 배관 연결, 장애물 간섭, 이격거리는 부족함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DEF1A-7EE6-42D8-A898-D6607376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D1D12-C84F-4745-B9B5-F45464BF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56F93-8E75-49E3-81CF-D26D93E8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법규 검색이 검토 품질을 좌우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F9C8F-3D07-425B-B92A-975D5AD0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990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키워드 누락·예시 데이터 혼입·법규 근거 불명확성이 결과 신뢰도를 낮춤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44677-AB05-4387-AAEB-6A54B2BD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DA7"/>
                </a:solidFill>
              </a:defRPr>
            </a:pPr>
            <a:r>
              <a:rPr sz="1800" b="1">
                <a:solidFill>
                  <a:srgbClr val="147DA7"/>
                </a:solidFill>
              </a:rPr>
              <a:t>문제 해결 가설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E9B62-F2A5-408E-BAA3-16EF59F9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2A55"/>
                </a:solidFill>
              </a:defRPr>
            </a:pPr>
            <a:r>
              <a:rPr sz="2100" b="1">
                <a:solidFill>
                  <a:srgbClr val="092A55"/>
                </a:solidFill>
              </a:rPr>
              <a:t>“도면 이미지 + OCR + 관련 법규 + 수치 규칙을 하나의 파이프라인으로 묶으면,</a:t>
            </a:r>
          </a:p>
          <a:p xmlns:a="http://schemas.openxmlformats.org/drawingml/2006/main">
            <a:pPr algn="l">
              <a:defRPr sz="2100" b="1">
                <a:solidFill>
                  <a:srgbClr val="092A55"/>
                </a:solidFill>
              </a:defRPr>
            </a:pPr>
            <a:r>
              <a:rPr sz="2100" b="1">
                <a:solidFill>
                  <a:srgbClr val="092A55"/>
                </a:solidFill>
              </a:rPr>
              <a:t>검토의견을 설명 가능한 구조로 만들 수 있다.”</a:t>
            </a:r>
          </a:p>
        </p:txBody>
      </p:sp>
    </p:spTree>
    <p:extLst>
      <p:ext uri="{BB962C8B-B14F-4D97-AF65-F5344CB8AC3E}">
        <p14:creationId xmlns:p14="http://schemas.microsoft.com/office/powerpoint/2010/main" val="680711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64955-0127-4982-95E9-1EE61532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487CD-2080-49BA-9348-EC38E888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A7"/>
                </a:solidFill>
              </a:defRPr>
            </a:pPr>
            <a:r>
              <a:rPr sz="900" b="1">
                <a:solidFill>
                  <a:srgbClr val="147DA7"/>
                </a:solidFill>
              </a:rPr>
              <a:t>02  해결 전략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27FFB-8163-4979-B1D8-C1B3075A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A55"/>
                </a:solidFill>
              </a:defRPr>
            </a:pPr>
            <a:r>
              <a:rPr sz="2700" b="1">
                <a:solidFill>
                  <a:srgbClr val="092A55"/>
                </a:solidFill>
              </a:rPr>
              <a:t>한 개의 LLM에 모두 맡기지 않고, 역할을 나눠 품질을 통제했다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175FB-C4F4-41D2-B8E1-9F092B60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F67E1-2E37-498A-849D-80FA765A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8"/>
                </a:solidFill>
              </a:defRPr>
            </a:pPr>
            <a:r>
              <a:rPr sz="750" b="0">
                <a:solidFill>
                  <a:srgbClr val="5D7088"/>
                </a:solidFill>
              </a:rPr>
              <a:t>Ai ENG Agent  ·  FutureM AI 활용전문가 과정  ·  2026.08.20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921E0-4A2D-4726-9EA9-707A941C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088"/>
                </a:solidFill>
              </a:defRPr>
            </a:pPr>
            <a:r>
              <a:rPr sz="900" b="1">
                <a:solidFill>
                  <a:srgbClr val="5D708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BD5F4-497A-47DC-9786-95427568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4C4C"/>
                </a:solidFill>
              </a:defRPr>
            </a:pPr>
            <a:r>
              <a:rPr sz="1800" b="1">
                <a:solidFill>
                  <a:srgbClr val="D84C4C"/>
                </a:solidFill>
              </a:rPr>
              <a:t>초기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7BCD1-A13E-4790-AAF8-4AF73D63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9525">
            <a:solidFill>
              <a:srgbClr val="EF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ECC81-7F75-415C-95EC-0BAE7E00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4C4C"/>
                </a:solidFill>
              </a:defRPr>
            </a:pPr>
            <a:r>
              <a:rPr sz="1800" b="1">
                <a:solidFill>
                  <a:srgbClr val="D84C4C"/>
                </a:solidFill>
              </a:rPr>
              <a:t>도면 이미지</a:t>
            </a:r>
          </a:p>
          <a:p xmlns:a="http://schemas.openxmlformats.org/drawingml/2006/main">
            <a:pPr algn="ctr">
              <a:defRPr sz="1800" b="1">
                <a:solidFill>
                  <a:srgbClr val="D84C4C"/>
                </a:solidFill>
              </a:defRPr>
            </a:pPr>
            <a:r>
              <a:rPr sz="1800" b="1">
                <a:solidFill>
                  <a:srgbClr val="D84C4C"/>
                </a:solidFill>
              </a:rPr>
              <a:t>        ↓</a:t>
            </a:r>
          </a:p>
          <a:p xmlns:a="http://schemas.openxmlformats.org/drawingml/2006/main">
            <a:pPr algn="ctr">
              <a:defRPr sz="1800" b="1">
                <a:solidFill>
                  <a:srgbClr val="D84C4C"/>
                </a:solidFill>
              </a:defRPr>
            </a:pPr>
            <a:r>
              <a:rPr sz="1800" b="1">
                <a:solidFill>
                  <a:srgbClr val="D84C4C"/>
                </a:solidFill>
              </a:rPr>
              <a:t>LLM 프롬프트</a:t>
            </a:r>
          </a:p>
          <a:p xmlns:a="http://schemas.openxmlformats.org/drawingml/2006/main">
            <a:pPr algn="ctr">
              <a:defRPr sz="1800" b="1">
                <a:solidFill>
                  <a:srgbClr val="D84C4C"/>
                </a:solidFill>
              </a:defRPr>
            </a:pPr>
            <a:r>
              <a:rPr sz="1800" b="1">
                <a:solidFill>
                  <a:srgbClr val="D84C4C"/>
                </a:solidFill>
              </a:rPr>
              <a:t>        ↓</a:t>
            </a:r>
          </a:p>
          <a:p xmlns:a="http://schemas.openxmlformats.org/drawingml/2006/main">
            <a:pPr algn="ctr">
              <a:defRPr sz="1800" b="1">
                <a:solidFill>
                  <a:srgbClr val="D84C4C"/>
                </a:solidFill>
              </a:defRPr>
            </a:pPr>
            <a:r>
              <a:rPr sz="1800" b="1">
                <a:solidFill>
                  <a:srgbClr val="D84C4C"/>
                </a:solidFill>
              </a:rPr>
              <a:t>긴 설명형 의견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B7AEB-958B-4B90-AD53-AC206352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8B63"/>
                </a:solidFill>
              </a:defRPr>
            </a:pPr>
            <a:r>
              <a:rPr sz="1800" b="1">
                <a:solidFill>
                  <a:srgbClr val="218B63"/>
                </a:solidFill>
              </a:rPr>
              <a:t>현재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F47D8-FB0D-4D7A-B679-BC604C6D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4286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BF7"/>
          </a:solidFill>
          <a:ln xmlns:a="http://schemas.openxmlformats.org/drawingml/2006/main" w="9525">
            <a:solidFill>
              <a:srgbClr val="BFE4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7909A-D372-4820-8D86-6FC51E90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145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A55"/>
                </a:solidFill>
              </a:defRPr>
            </a:pPr>
            <a:r>
              <a:rPr sz="1500" b="1">
                <a:solidFill>
                  <a:srgbClr val="092A55"/>
                </a:solidFill>
              </a:rPr>
              <a:t>도면 이미지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D607D-9F73-41D8-B1EC-4F314A33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0507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7DA7"/>
                </a:solidFill>
              </a:defRPr>
            </a:pPr>
            <a:r>
              <a:rPr sz="1350" b="1">
                <a:solidFill>
                  <a:srgbClr val="147DA7"/>
                </a:solidFill>
              </a:rPr>
              <a:t>↓  Vision / OCR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11D67-2F04-4071-B866-89BFB92A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956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7DA7"/>
                </a:solidFill>
              </a:defRPr>
            </a:pPr>
            <a:r>
              <a:rPr sz="1350" b="1">
                <a:solidFill>
                  <a:srgbClr val="147DA7"/>
                </a:solidFill>
              </a:rPr>
              <a:t>↓  법규 검색 (Local / Vector)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81C31-A8B2-4A57-B0D0-0ECF4334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861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7DA7"/>
                </a:solidFill>
              </a:defRPr>
            </a:pPr>
            <a:r>
              <a:rPr sz="1350" b="1">
                <a:solidFill>
                  <a:srgbClr val="147DA7"/>
                </a:solidFill>
              </a:rPr>
              <a:t>↓  Rule Engine 수치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2C2A1-0A1B-41CB-8E59-BBC09436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766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7DA7"/>
                </a:solidFill>
              </a:defRPr>
            </a:pPr>
            <a:r>
              <a:rPr sz="1350" b="1">
                <a:solidFill>
                  <a:srgbClr val="147DA7"/>
                </a:solidFill>
              </a:rPr>
              <a:t>↓  전문가형 LLM 종합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26E98-DB66-4E0B-83C4-68B63DCE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6717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8B63"/>
                </a:solidFill>
              </a:defRPr>
            </a:pPr>
            <a:r>
              <a:rPr sz="1350" b="1">
                <a:solidFill>
                  <a:srgbClr val="218B63"/>
                </a:solidFill>
              </a:rPr>
              <a:t>↓  주석·리포트·대시보드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52F67-3FEE-4A70-9BEC-4524F8BD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8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309D0-B0C1-489C-9B53-2991FFEC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A8D4"/>
                </a:solidFill>
              </a:defRPr>
            </a:pPr>
            <a:r>
              <a:rPr sz="1650" b="1">
                <a:solidFill>
                  <a:srgbClr val="17A8D4"/>
                </a:solidFill>
              </a:rPr>
              <a:t>핵심 전환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8F5B8-A22E-41DE-A74A-E769CA33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A55"/>
                </a:solidFill>
              </a:defRPr>
            </a:pPr>
            <a:r>
              <a:rPr sz="1650" b="1">
                <a:solidFill>
                  <a:srgbClr val="092A55"/>
                </a:solidFill>
              </a:rPr>
              <a:t>“생성” 중심 → “근거가 있는 검토” 중심</a:t>
            </a:r>
          </a:p>
        </p:txBody>
      </p:sp>
    </p:spTree>
    <p:extLst>
      <p:ext uri="{BB962C8B-B14F-4D97-AF65-F5344CB8AC3E}">
        <p14:creationId xmlns:p14="http://schemas.microsoft.com/office/powerpoint/2010/main" val="949166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FCB019-4D09-4EC1-B684-8F50C480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4DE91-04C7-44BC-ADAF-D9939B03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A7"/>
                </a:solidFill>
              </a:defRPr>
            </a:pPr>
            <a:r>
              <a:rPr sz="900" b="1">
                <a:solidFill>
                  <a:srgbClr val="147DA7"/>
                </a:solidFill>
              </a:rPr>
              <a:t>03  시스템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330DE-DEC2-4E25-BADE-D1B57D22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A55"/>
                </a:solidFill>
              </a:defRPr>
            </a:pPr>
            <a:r>
              <a:rPr sz="2700" b="1">
                <a:solidFill>
                  <a:srgbClr val="092A55"/>
                </a:solidFill>
              </a:rPr>
              <a:t>도면 한 장의 검토를 5단계 파이프라인으로 분해했다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6FB00-8A92-4893-815F-070A4D82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DBA55-CDF3-4B45-BA14-29F93055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8"/>
                </a:solidFill>
              </a:defRPr>
            </a:pPr>
            <a:r>
              <a:rPr sz="750" b="0">
                <a:solidFill>
                  <a:srgbClr val="5D7088"/>
                </a:solidFill>
              </a:rPr>
              <a:t>Ai ENG Agent  ·  FutureM AI 활용전문가 과정  ·  2026.08.20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6238D-8F9E-4547-B897-38B0871E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088"/>
                </a:solidFill>
              </a:defRPr>
            </a:pPr>
            <a:r>
              <a:rPr sz="900" b="1">
                <a:solidFill>
                  <a:srgbClr val="5D708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816CA-C9D4-4BB7-87B0-12E4D4EE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84CCB-CE68-400D-86BD-F1DCD982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D6DFD-BBC5-4A7D-9254-23F9BECC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C5F07-ADF7-4D09-91E3-7A89AAC4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098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C99D3-9721-46A7-B478-0588713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813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A55"/>
                </a:solidFill>
              </a:defRPr>
            </a:pPr>
            <a:r>
              <a:rPr sz="1350" b="1">
                <a:solidFill>
                  <a:srgbClr val="092A55"/>
                </a:solidFill>
              </a:rPr>
              <a:t>PDF / 이미지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EC807-E836-444A-8F98-4F3EEA48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7088"/>
                </a:solidFill>
              </a:defRPr>
            </a:pPr>
            <a:r>
              <a:rPr sz="1125" b="0">
                <a:solidFill>
                  <a:srgbClr val="5D7088"/>
                </a:solidFill>
              </a:rPr>
              <a:t>페이지 분리</a:t>
            </a:r>
          </a:p>
          <a:p xmlns:a="http://schemas.openxmlformats.org/drawingml/2006/main">
            <a:pPr algn="ctr">
              <a:defRPr sz="1125" b="0">
                <a:solidFill>
                  <a:srgbClr val="5D7088"/>
                </a:solidFill>
              </a:defRPr>
            </a:pPr>
            <a:r>
              <a:rPr sz="1125" b="0">
                <a:solidFill>
                  <a:srgbClr val="5D7088"/>
                </a:solidFill>
              </a:rPr>
              <a:t>PDF.js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B3143-9B68-4EA0-9D45-2373141B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8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5565B-B630-4956-BF6C-E3C24EBA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717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18D8C-47C1-408C-AE4B-66B72E0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D02AF-B588-409E-91D0-4B9AEE39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98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7302A-E134-4316-8250-EF77D621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813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A55"/>
                </a:solidFill>
              </a:defRPr>
            </a:pPr>
            <a:r>
              <a:rPr sz="1350" b="1">
                <a:solidFill>
                  <a:srgbClr val="092A55"/>
                </a:solidFill>
              </a:rPr>
              <a:t>Vision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CB569-0B0B-4B21-9684-0C18A08E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7088"/>
                </a:solidFill>
              </a:defRPr>
            </a:pPr>
            <a:r>
              <a:rPr sz="1125" b="0">
                <a:solidFill>
                  <a:srgbClr val="5D7088"/>
                </a:solidFill>
              </a:rPr>
              <a:t>Cloud Vision</a:t>
            </a:r>
          </a:p>
          <a:p xmlns:a="http://schemas.openxmlformats.org/drawingml/2006/main">
            <a:pPr algn="ctr">
              <a:defRPr sz="1125" b="0">
                <a:solidFill>
                  <a:srgbClr val="5D7088"/>
                </a:solidFill>
              </a:defRPr>
            </a:pPr>
            <a:r>
              <a:rPr sz="1125" b="0">
                <a:solidFill>
                  <a:srgbClr val="5D7088"/>
                </a:solidFill>
              </a:rPr>
              <a:t>또는 NVIDIA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4151E-E474-4303-B40B-E23ABA31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8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9517A-097A-4E2C-9327-D944DB22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65E80-B29E-47E7-87DC-10BF4AED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255AE-9D0A-4FC5-8613-31ED9773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098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1762E-1D97-420B-BC58-DD381274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813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A55"/>
                </a:solidFill>
              </a:defRPr>
            </a:pPr>
            <a:r>
              <a:rPr sz="1350" b="1">
                <a:solidFill>
                  <a:srgbClr val="092A55"/>
                </a:solidFill>
              </a:rPr>
              <a:t>Retrieval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CBAF83-691D-459E-B90A-25ABAF2D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432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7088"/>
                </a:solidFill>
              </a:defRPr>
            </a:pPr>
            <a:r>
              <a:rPr sz="1125" b="0">
                <a:solidFill>
                  <a:srgbClr val="5D7088"/>
                </a:solidFill>
              </a:rPr>
              <a:t>Local keyword</a:t>
            </a:r>
          </a:p>
          <a:p xmlns:a="http://schemas.openxmlformats.org/drawingml/2006/main">
            <a:pPr algn="ctr">
              <a:defRPr sz="1125" b="0">
                <a:solidFill>
                  <a:srgbClr val="5D7088"/>
                </a:solidFill>
              </a:defRPr>
            </a:pPr>
            <a:r>
              <a:rPr sz="1125" b="0">
                <a:solidFill>
                  <a:srgbClr val="5D7088"/>
                </a:solidFill>
              </a:rPr>
              <a:t>또는 pgvector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7289F-1BF9-426E-BE2C-8E04A588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8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AC14C-A510-4317-865E-E9B9BFA8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6C255-1966-4FA7-9E37-5DC24B21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1FA16C-5083-478C-9650-89F7743A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098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6585F3-A210-4F69-8A87-20401B89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813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A55"/>
                </a:solidFill>
              </a:defRPr>
            </a:pPr>
            <a:r>
              <a:rPr sz="1350" b="1">
                <a:solidFill>
                  <a:srgbClr val="092A55"/>
                </a:solidFill>
              </a:rPr>
              <a:t>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0F4831-FEC1-40CE-9325-008CC655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432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7088"/>
                </a:solidFill>
              </a:defRPr>
            </a:pPr>
            <a:r>
              <a:rPr sz="1125" b="0">
                <a:solidFill>
                  <a:srgbClr val="5D7088"/>
                </a:solidFill>
              </a:rPr>
              <a:t>Rule Engine</a:t>
            </a:r>
          </a:p>
          <a:p xmlns:a="http://schemas.openxmlformats.org/drawingml/2006/main">
            <a:pPr algn="ctr">
              <a:defRPr sz="1125" b="0">
                <a:solidFill>
                  <a:srgbClr val="5D7088"/>
                </a:solidFill>
              </a:defRPr>
            </a:pPr>
            <a:r>
              <a:rPr sz="1125" b="0">
                <a:solidFill>
                  <a:srgbClr val="5D7088"/>
                </a:solidFill>
              </a:rPr>
              <a:t>수치·이격·수량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7ED6F7-AF6B-452C-B8D9-E95B31F0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717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EB437-D372-4487-98FA-FE1DCA9C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C5CE06-5144-4C14-A95C-17E36835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098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C9475F-80D2-4633-9B4D-6CF34388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813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A55"/>
                </a:solidFill>
              </a:defRPr>
            </a:pPr>
            <a:r>
              <a:rPr sz="1350" b="1">
                <a:solidFill>
                  <a:srgbClr val="092A55"/>
                </a:solidFill>
              </a:rPr>
              <a:t>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CB1FDB-3F88-41B6-890B-D713D1C2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1432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7088"/>
                </a:solidFill>
              </a:defRPr>
            </a:pPr>
            <a:r>
              <a:rPr sz="1125" b="0">
                <a:solidFill>
                  <a:srgbClr val="5D7088"/>
                </a:solidFill>
              </a:rPr>
              <a:t>Gemini/NVIDIA</a:t>
            </a:r>
          </a:p>
          <a:p xmlns:a="http://schemas.openxmlformats.org/drawingml/2006/main">
            <a:pPr algn="ctr">
              <a:defRPr sz="1125" b="0">
                <a:solidFill>
                  <a:srgbClr val="5D7088"/>
                </a:solidFill>
              </a:defRPr>
            </a:pPr>
            <a:r>
              <a:rPr sz="1125" b="0">
                <a:solidFill>
                  <a:srgbClr val="5D7088"/>
                </a:solidFill>
              </a:rPr>
              <a:t>JSON 보고서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AAC32-0B3B-4442-A823-932503D8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8B63"/>
                </a:solidFill>
              </a:defRPr>
            </a:pPr>
            <a:r>
              <a:rPr sz="1200" b="1">
                <a:solidFill>
                  <a:srgbClr val="218B63"/>
                </a:solidFill>
              </a:rPr>
              <a:t>최종 출력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DA16B8-6B08-40CC-99DE-340D027F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958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2A55"/>
                </a:solidFill>
              </a:defRPr>
            </a:pPr>
            <a:r>
              <a:rPr sz="1950" b="1">
                <a:solidFill>
                  <a:srgbClr val="092A55"/>
                </a:solidFill>
              </a:rPr>
              <a:t>설계  ·  안전  ·  VE  ·  법규 근거  ·  도면 주석</a:t>
            </a:r>
          </a:p>
        </p:txBody>
      </p:sp>
    </p:spTree>
    <p:extLst>
      <p:ext uri="{BB962C8B-B14F-4D97-AF65-F5344CB8AC3E}">
        <p14:creationId xmlns:p14="http://schemas.microsoft.com/office/powerpoint/2010/main" val="9676695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324CC0-3485-4400-8C9B-030478CC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7CE80-040F-462E-A89A-360885F3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A7"/>
                </a:solidFill>
              </a:defRPr>
            </a:pPr>
            <a:r>
              <a:rPr sz="900" b="1">
                <a:solidFill>
                  <a:srgbClr val="147DA7"/>
                </a:solidFill>
              </a:rPr>
              <a:t>04  기술 스택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E8B4D-0807-479B-B909-07C68AD0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A55"/>
                </a:solidFill>
              </a:defRPr>
            </a:pPr>
            <a:r>
              <a:rPr sz="2700" b="1">
                <a:solidFill>
                  <a:srgbClr val="092A55"/>
                </a:solidFill>
              </a:rPr>
              <a:t>기술 스택은 “빠른 시연”과 “전문 검토 확장성”을 함께 고려했다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3CB42-9CFF-46BE-A88F-C9C69BEE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684BE-4184-4CFF-985A-6D1E2222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8"/>
                </a:solidFill>
              </a:defRPr>
            </a:pPr>
            <a:r>
              <a:rPr sz="750" b="0">
                <a:solidFill>
                  <a:srgbClr val="5D7088"/>
                </a:solidFill>
              </a:rPr>
              <a:t>Ai ENG Agent  ·  FutureM AI 활용전문가 과정  ·  2026.08.20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E3E7E-816A-44B6-B209-030AE2D2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088"/>
                </a:solidFill>
              </a:defRPr>
            </a:pPr>
            <a:r>
              <a:rPr sz="900" b="1">
                <a:solidFill>
                  <a:srgbClr val="5D708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96921-A35F-4F42-BEBC-9F545228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3381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2A826-131A-4DD3-B3BB-D0F1DA92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BC4A1-7129-42CE-A477-5CBA67F5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038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190E5-5237-434C-815D-52DE66ED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0384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React 19 · TypeScript · Vite · Tailwind CSS</a:t>
            </a:r>
          </a:p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PDF.js · lucide-react · motion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7473C-109C-471E-95B7-06E4FAFB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66875"/>
            <a:ext cx="3381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0BD7A-8B16-449B-B64F-D39DBF63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66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48620-FC47-4EDF-AD0D-8A2E4344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38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Backend / Deploy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70F7B-484A-44BE-AA52-766C706B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30384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Node.js · Express · tsx · esbuild</a:t>
            </a:r>
          </a:p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Vercel Serverless · 환경변수 기반 인증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B70AF-6CE9-49CA-AD34-98CA01F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66875"/>
            <a:ext cx="3381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27F7D-46B5-43D6-BA76-9AF82426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66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3C480-F2C7-4A70-BEA7-CF044F6B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3038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Google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E0652-339D-44FA-B8C6-20CC48F9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0384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Gemini 멀티모달 · Vertex AI ADC</a:t>
            </a:r>
          </a:p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Cloud Vision DOCUMENT_TEXT_DETECTION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03C1E-6C77-4598-A628-570BA235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57625"/>
            <a:ext cx="3381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F5240-0316-471D-8690-C348B112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57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5F438-FD45-4DDF-80CD-FD64642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3038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NVIDIA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518A8-B588-433E-AC9E-8927CA44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43400"/>
            <a:ext cx="30384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Nemotron Omni Vision</a:t>
            </a:r>
          </a:p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Nemotron Embedding · Nemotron Text 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5B125-F56A-4E3F-A948-0FFFFC32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57625"/>
            <a:ext cx="3381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668941-8065-4BDF-B811-083BDF70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57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88866-372C-451A-8959-08D13374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000500"/>
            <a:ext cx="3038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RAG /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7A396-6F32-4FA8-B7EE-D35A1775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343400"/>
            <a:ext cx="30384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Supabase PostgreSQL + pgvector</a:t>
            </a:r>
          </a:p>
          <a:p xmlns:a="http://schemas.openxmlformats.org/drawingml/2006/main">
            <a:pPr algn="l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법규 조항 DB · 수치 Rule Engine</a:t>
            </a:r>
          </a:p>
        </p:txBody>
      </p:sp>
    </p:spTree>
    <p:extLst>
      <p:ext uri="{BB962C8B-B14F-4D97-AF65-F5344CB8AC3E}">
        <p14:creationId xmlns:p14="http://schemas.microsoft.com/office/powerpoint/2010/main" val="423877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51D4B-96C5-4828-8253-4259C573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F698B-8773-4F92-9F81-D0F91461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A7"/>
                </a:solidFill>
              </a:defRPr>
            </a:pPr>
            <a:r>
              <a:rPr sz="900" b="1">
                <a:solidFill>
                  <a:srgbClr val="147DA7"/>
                </a:solidFill>
              </a:rPr>
              <a:t>05  교육 연계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3544B-1740-4458-B370-F6765224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A55"/>
                </a:solidFill>
              </a:defRPr>
            </a:pPr>
            <a:r>
              <a:rPr sz="2700" b="1">
                <a:solidFill>
                  <a:srgbClr val="092A55"/>
                </a:solidFill>
              </a:rPr>
              <a:t>교육 커리큘럼의 개념을 실제 업무 파이프라인으로 전환했다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DC2C5-FA54-45C5-AE1E-47A79036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457F-A47F-4C22-A8ED-90BCE2C9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8"/>
                </a:solidFill>
              </a:defRPr>
            </a:pPr>
            <a:r>
              <a:rPr sz="750" b="0">
                <a:solidFill>
                  <a:srgbClr val="5D7088"/>
                </a:solidFill>
              </a:rPr>
              <a:t>Ai ENG Agent  ·  FutureM AI 활용전문가 과정  ·  2026.08.20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FD2DB-8EB9-4144-BFEB-E7664EEE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088"/>
                </a:solidFill>
              </a:defRPr>
            </a:pPr>
            <a:r>
              <a:rPr sz="900" b="1">
                <a:solidFill>
                  <a:srgbClr val="5D708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20DE8-75D6-4167-A730-57122800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1087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337BB-BB5E-407A-B994-6525135A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DA7"/>
                </a:solidFill>
              </a:defRPr>
            </a:pPr>
            <a:r>
              <a:rPr sz="1350" b="1">
                <a:solidFill>
                  <a:srgbClr val="147DA7"/>
                </a:solidFill>
              </a:rPr>
              <a:t>1주차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D3F2E-D308-4D66-BB83-3F0E36DB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335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92A55"/>
                </a:solidFill>
              </a:defRPr>
            </a:pPr>
            <a:r>
              <a:rPr sz="1425" b="1">
                <a:solidFill>
                  <a:srgbClr val="092A55"/>
                </a:solidFill>
              </a:rPr>
              <a:t>Python·데이터·ML/DL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17D05-F6C4-4818-BD49-C2FE7E94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335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JSON 데이터 모델 · 타입 안정성 · 수치 Rule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5BB77-A80A-45FA-AFE9-0E6DD7FC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95575"/>
            <a:ext cx="11087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0E2E8-302A-42D1-93B4-E368C223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DA7"/>
                </a:solidFill>
              </a:defRPr>
            </a:pPr>
            <a:r>
              <a:rPr sz="1350" b="1">
                <a:solidFill>
                  <a:srgbClr val="147DA7"/>
                </a:solidFill>
              </a:rPr>
              <a:t>2주차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B875C-13E2-4E68-A27D-581B4E13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670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92A55"/>
                </a:solidFill>
              </a:defRPr>
            </a:pPr>
            <a:r>
              <a:rPr sz="1425" b="1">
                <a:solidFill>
                  <a:srgbClr val="092A55"/>
                </a:solidFill>
              </a:rPr>
              <a:t>Computer Vision·OCR·웹 서비스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C6C91-17CD-4AE9-BF16-796E1EEE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6702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PDF.js · Cloud Vision · NVIDIA Vision · React 업로드/대시보드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C6D05-BBF2-421A-9E0B-0435F8BF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11087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C8002-B631-46A8-8F48-5AF81BEF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DA7"/>
                </a:solidFill>
              </a:defRPr>
            </a:pPr>
            <a:r>
              <a:rPr sz="1350" b="1">
                <a:solidFill>
                  <a:srgbClr val="147DA7"/>
                </a:solidFill>
              </a:rPr>
              <a:t>3주차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C59AB-3713-4CBE-A0D5-711BA3D9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004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92A55"/>
                </a:solidFill>
              </a:defRPr>
            </a:pPr>
            <a:r>
              <a:rPr sz="1425" b="1">
                <a:solidFill>
                  <a:srgbClr val="092A55"/>
                </a:solidFill>
              </a:rPr>
              <a:t>LLM·Embedding·RAG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56A41-3123-4031-BC39-27CDEEEF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004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프롬프트 · 법규 Chunking · pgvector 검색 · Context 주입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5E03C-A946-4CBB-A14C-83A21015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11087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5C358C-811F-483D-8F86-192B0AC7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DA7"/>
                </a:solidFill>
              </a:defRPr>
            </a:pPr>
            <a:r>
              <a:rPr sz="1350" b="1">
                <a:solidFill>
                  <a:srgbClr val="147DA7"/>
                </a:solidFill>
              </a:rPr>
              <a:t>4주차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AEEF4-3A35-4DA0-AE16-81307C4E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33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92A55"/>
                </a:solidFill>
              </a:defRPr>
            </a:pPr>
            <a:r>
              <a:rPr sz="1425" b="1">
                <a:solidFill>
                  <a:srgbClr val="092A55"/>
                </a:solidFill>
              </a:rPr>
              <a:t>MCP·Agent·현업 적용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BD14E-86D1-4481-A437-7A12B88A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3392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Vision → Retrieval → Rule → Review 역할 분리 · Vercel 배포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110CE-9F4C-4123-BE19-38622B1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DA7"/>
                </a:solidFill>
              </a:defRPr>
            </a:pPr>
            <a:r>
              <a:rPr sz="1350" b="1">
                <a:solidFill>
                  <a:srgbClr val="147DA7"/>
                </a:solidFill>
              </a:rPr>
              <a:t>교육의 핵심 학습점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8B9F7-EAD4-4639-B5AA-F4E451A5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912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A55"/>
                </a:solidFill>
              </a:defRPr>
            </a:pPr>
            <a:r>
              <a:rPr sz="1350" b="1">
                <a:solidFill>
                  <a:srgbClr val="092A55"/>
                </a:solidFill>
              </a:rPr>
              <a:t>모델 연결보다 중요한 것은 데이터·근거·검증·사용자 피드백을 끊김 없이 연결하는 것</a:t>
            </a:r>
          </a:p>
        </p:txBody>
      </p:sp>
    </p:spTree>
    <p:extLst>
      <p:ext uri="{BB962C8B-B14F-4D97-AF65-F5344CB8AC3E}">
        <p14:creationId xmlns:p14="http://schemas.microsoft.com/office/powerpoint/2010/main" val="1943693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3C29C-B069-43DE-92A5-5F700C2D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FBCD2-CC30-4FA4-8346-60053836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A7"/>
                </a:solidFill>
              </a:defRPr>
            </a:pPr>
            <a:r>
              <a:rPr sz="900" b="1">
                <a:solidFill>
                  <a:srgbClr val="147DA7"/>
                </a:solidFill>
              </a:rPr>
              <a:t>06  시행착오와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B4390-B163-4CB1-B6D0-5FF35256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A55"/>
                </a:solidFill>
              </a:defRPr>
            </a:pPr>
            <a:r>
              <a:rPr sz="2700" b="1">
                <a:solidFill>
                  <a:srgbClr val="092A55"/>
                </a:solidFill>
              </a:rPr>
              <a:t>실패는 기능 부족보다 “검증 지점이 없었던 것”을 보여줬다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EE81C-DD48-4B56-806A-6EC6E2CD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C964E-C56A-4783-97D5-5FE3F0B8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8"/>
                </a:solidFill>
              </a:defRPr>
            </a:pPr>
            <a:r>
              <a:rPr sz="750" b="0">
                <a:solidFill>
                  <a:srgbClr val="5D7088"/>
                </a:solidFill>
              </a:rPr>
              <a:t>Ai ENG Agent  ·  FutureM AI 활용전문가 과정  ·  2026.08.20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648F5-5B9C-4DC7-9779-03BF33B3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088"/>
                </a:solidFill>
              </a:defRPr>
            </a:pPr>
            <a:r>
              <a:rPr sz="900" b="1">
                <a:solidFill>
                  <a:srgbClr val="5D7088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E32D1-A62F-48AF-925A-E280BB0A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10871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EBAAB-9B07-4EE2-8C77-DD0643E1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4C4C"/>
                </a:solidFill>
              </a:defRPr>
            </a:pPr>
            <a:r>
              <a:rPr sz="1425" b="1">
                <a:solidFill>
                  <a:srgbClr val="D84C4C"/>
                </a:solidFill>
              </a:rPr>
              <a:t>502/응답 지연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287A3-7397-4ECB-87C0-8B30A254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859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모델 호출을 Vision·RAG·Text 단계로 분리하고, 상태·타임아웃·재시도 구조를 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7BFCD-AFAA-428D-BA5D-7FDF686A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110871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77D49-2C92-4C97-9A9B-57A371C4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4C4C"/>
                </a:solidFill>
              </a:defRPr>
            </a:pPr>
            <a:r>
              <a:rPr sz="1425" b="1">
                <a:solidFill>
                  <a:srgbClr val="D84C4C"/>
                </a:solidFill>
              </a:rPr>
              <a:t>예시 의견 혼입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DE896-45C7-4A1B-9722-28958E28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실제 도면 evidence·페이지·좌표를 요구하고 확인 불가 값은 NEEDS_CONFIRMATION으로 제한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6B722-4D20-411D-9B64-E8BFAE08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10871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D3492-370D-4A2D-AB79-CBFA3EFA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4C4C"/>
                </a:solidFill>
              </a:defRPr>
            </a:pPr>
            <a:r>
              <a:rPr sz="1425" b="1">
                <a:solidFill>
                  <a:srgbClr val="D84C4C"/>
                </a:solidFill>
              </a:rPr>
              <a:t>페이지·주석 불일치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A80E4-7F08-4C0D-9E84-19C8BB2E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95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pageNumber·displayIndex·좌표를 결과 데이터에 포함하고 워크스페이스 선택과 동기화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DC207-64B1-4AB0-B411-577E3EF6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110871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EDAA4-D527-4067-A872-466E85AA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4C4C"/>
                </a:solidFill>
              </a:defRPr>
            </a:pPr>
            <a:r>
              <a:rPr sz="1425" b="1">
                <a:solidFill>
                  <a:srgbClr val="D84C4C"/>
                </a:solidFill>
              </a:rPr>
              <a:t>법규 근거 불명확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5CF08-A043-40E2-AE65-70C8A7C4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005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codeClause·evidence·source를 별도 필드로 저장하고 엔진별 검색 방식을 분리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C4B44-085D-4258-BC35-45BDE688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DA7"/>
                </a:solidFill>
              </a:defRPr>
            </a:pPr>
            <a:r>
              <a:rPr sz="1500" b="1">
                <a:solidFill>
                  <a:srgbClr val="147DA7"/>
                </a:solidFill>
              </a:rPr>
              <a:t>멘토링/코칭 피드백의 공통 방향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E11B1-419C-42E5-9A56-0C9643DF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2A55"/>
                </a:solidFill>
              </a:defRPr>
            </a:pPr>
            <a:r>
              <a:rPr sz="1650" b="1">
                <a:solidFill>
                  <a:srgbClr val="092A55"/>
                </a:solidFill>
              </a:rPr>
              <a:t>“AI가 말한 내용”이 아니라 “도면의 어느 위치와 어떤 조항을 근거로 했는가”를 보여줄 것</a:t>
            </a:r>
          </a:p>
        </p:txBody>
      </p:sp>
    </p:spTree>
    <p:extLst>
      <p:ext uri="{BB962C8B-B14F-4D97-AF65-F5344CB8AC3E}">
        <p14:creationId xmlns:p14="http://schemas.microsoft.com/office/powerpoint/2010/main" val="156108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88B6C9-9A95-4CD9-928F-B3AEC35D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25BAF-4474-490C-B401-F0923985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A7"/>
                </a:solidFill>
              </a:defRPr>
            </a:pPr>
            <a:r>
              <a:rPr sz="900" b="1">
                <a:solidFill>
                  <a:srgbClr val="147DA7"/>
                </a:solidFill>
              </a:rPr>
              <a:t>07  결과 및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0F383-AE20-4161-8A4F-4AA1C34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A55"/>
                </a:solidFill>
              </a:defRPr>
            </a:pPr>
            <a:r>
              <a:rPr sz="2700" b="1">
                <a:solidFill>
                  <a:srgbClr val="092A55"/>
                </a:solidFill>
              </a:rPr>
              <a:t>시연은 “업로드 → 검토 → 근거 확인 → 보고서”의 한 사이클로 구성한다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F1613-EEFB-4BA4-9A71-2FC25D9F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362D6-B058-4789-99D5-D302B861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8"/>
                </a:solidFill>
              </a:defRPr>
            </a:pPr>
            <a:r>
              <a:rPr sz="750" b="0">
                <a:solidFill>
                  <a:srgbClr val="5D7088"/>
                </a:solidFill>
              </a:rPr>
              <a:t>Ai ENG Agent  ·  FutureM AI 활용전문가 과정  ·  2026.08.20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055B9-190B-4CAE-9A3E-CDA9C5EE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088"/>
                </a:solidFill>
              </a:defRPr>
            </a:pPr>
            <a:r>
              <a:rPr sz="900" b="1">
                <a:solidFill>
                  <a:srgbClr val="5D7088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41C7B-60F6-413F-82B2-C2613500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6858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F8804-0BF2-4604-8361-5E58C9D3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A7"/>
                </a:solidFill>
              </a:defRPr>
            </a:pPr>
            <a:r>
              <a:rPr sz="900" b="1">
                <a:solidFill>
                  <a:srgbClr val="147DA7"/>
                </a:solidFill>
              </a:rPr>
              <a:t>DEMO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AEBA7-C224-4FE5-9CC6-84ECF070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381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2A343-0417-4E9D-B9B9-4B8CE0E8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A8D4"/>
                </a:solidFill>
              </a:defRPr>
            </a:pPr>
            <a:r>
              <a:rPr sz="1650" b="1">
                <a:solidFill>
                  <a:srgbClr val="17A8D4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74E87-B793-4F29-B5B7-D348E7F4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A55"/>
                </a:solidFill>
              </a:defRPr>
            </a:pPr>
            <a:r>
              <a:rPr sz="1275" b="1">
                <a:solidFill>
                  <a:srgbClr val="092A55"/>
                </a:solidFill>
              </a:rPr>
              <a:t>도면 업로드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9BB09-18D8-4AF0-8294-6DE7282D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152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88"/>
                </a:solidFill>
              </a:defRPr>
            </a:pPr>
            <a:r>
              <a:rPr sz="975" b="0">
                <a:solidFill>
                  <a:srgbClr val="5D7088"/>
                </a:solidFill>
              </a:rPr>
              <a:t>PDF 다중 페이지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B2585-CF4F-4BBD-AC74-72A8924E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24125"/>
            <a:ext cx="1381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959B1-49AC-43A8-9F56-8F31C35F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14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A8D4"/>
                </a:solidFill>
              </a:defRPr>
            </a:pPr>
            <a:r>
              <a:rPr sz="1650" b="1">
                <a:solidFill>
                  <a:srgbClr val="17A8D4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A1ED8-6D67-4894-A04A-2EA6400D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432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A55"/>
                </a:solidFill>
              </a:defRPr>
            </a:pPr>
            <a:r>
              <a:rPr sz="1275" b="1">
                <a:solidFill>
                  <a:srgbClr val="092A55"/>
                </a:solidFill>
              </a:rPr>
              <a:t>엔진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59075-E1B0-4C1B-A337-360B98F9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476625"/>
            <a:ext cx="1152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88"/>
                </a:solidFill>
              </a:defRPr>
            </a:pPr>
            <a:r>
              <a:rPr sz="975" b="0">
                <a:solidFill>
                  <a:srgbClr val="5D7088"/>
                </a:solidFill>
              </a:rPr>
              <a:t>Gemini / NVIDIA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39418-CB02-42F6-AC91-3D5261B0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24125"/>
            <a:ext cx="1381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22000-3115-4911-9A5D-8E4DA911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A8D4"/>
                </a:solidFill>
              </a:defRPr>
            </a:pPr>
            <a:r>
              <a:rPr sz="1650" b="1">
                <a:solidFill>
                  <a:srgbClr val="17A8D4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AA43C-13CB-4DDD-8E74-424C8016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432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A55"/>
                </a:solidFill>
              </a:defRPr>
            </a:pPr>
            <a:r>
              <a:rPr sz="1275" b="1">
                <a:solidFill>
                  <a:srgbClr val="092A55"/>
                </a:solidFill>
              </a:rPr>
              <a:t>워크스페이스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9FC70-1E59-4A5F-9DBF-7693B1B2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76625"/>
            <a:ext cx="1152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88"/>
                </a:solidFill>
              </a:defRPr>
            </a:pPr>
            <a:r>
              <a:rPr sz="975" b="0">
                <a:solidFill>
                  <a:srgbClr val="5D7088"/>
                </a:solidFill>
              </a:rPr>
              <a:t>도면·주석·상세의견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B86AC-F2E2-45FC-BC26-0ABC08BF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1381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5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FC084-5AF2-4B22-B7B7-95DCC918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14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A8D4"/>
                </a:solidFill>
              </a:defRPr>
            </a:pPr>
            <a:r>
              <a:rPr sz="1650" b="1">
                <a:solidFill>
                  <a:srgbClr val="17A8D4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D27AA5-4F10-4DE1-B833-D1233FB1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432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A55"/>
                </a:solidFill>
              </a:defRPr>
            </a:pPr>
            <a:r>
              <a:rPr sz="1275" b="1">
                <a:solidFill>
                  <a:srgbClr val="092A55"/>
                </a:solidFill>
              </a:rPr>
              <a:t>통합 보고서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797FE-AF4B-4B1C-A7EC-8A6D6A5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476625"/>
            <a:ext cx="1152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88"/>
                </a:solidFill>
              </a:defRPr>
            </a:pPr>
            <a:r>
              <a:rPr sz="975" b="0">
                <a:solidFill>
                  <a:srgbClr val="5D7088"/>
                </a:solidFill>
              </a:rPr>
              <a:t>1장 요약 출력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05920A-B473-4A7B-971F-A38A466F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29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7088"/>
                </a:solidFill>
              </a:defRPr>
            </a:pPr>
            <a:r>
              <a:rPr sz="1650" b="1">
                <a:solidFill>
                  <a:srgbClr val="5D7088"/>
                </a:solidFill>
              </a:rPr>
              <a:t>시연 영상 삽입 위치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D4526-9085-485A-8787-F8CDE116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1012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088"/>
                </a:solidFill>
              </a:defRPr>
            </a:pPr>
            <a:r>
              <a:rPr sz="1200" b="0">
                <a:solidFill>
                  <a:srgbClr val="5D7088"/>
                </a:solidFill>
              </a:rPr>
              <a:t>업로드 화면 → 도면 워크스페이스 → 통합 보고서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A2A23-DD08-4D19-9F89-8104148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66875"/>
            <a:ext cx="36576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9525">
            <a:solidFill>
              <a:srgbClr val="B9D9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5D0DF6-9A01-4D9C-8BD0-B7A500A2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85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A7"/>
                </a:solidFill>
              </a:defRPr>
            </a:pPr>
            <a:r>
              <a:rPr sz="1425" b="1">
                <a:solidFill>
                  <a:srgbClr val="147DA7"/>
                </a:solidFill>
              </a:rPr>
              <a:t>정량적으로 확인 가능한 결과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2BBC39-2827-471F-A402-551DD899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• 2개 AI 엔진 선택 구조</a:t>
            </a:r>
          </a:p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• 5단계 검토 파이프라인</a:t>
            </a:r>
          </a:p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• 설계·안전·VE 분리</a:t>
            </a:r>
          </a:p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• 다중 페이지·법규·수치 근거 연결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83D6F-29D1-46DF-A3E6-785286D0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6576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3FBF7"/>
          </a:solidFill>
          <a:ln xmlns:a="http://schemas.openxmlformats.org/drawingml/2006/main" w="9525">
            <a:solidFill>
              <a:srgbClr val="BFE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EAD70F-64E5-447E-B726-AABE4CC0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385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8B63"/>
                </a:solidFill>
              </a:defRPr>
            </a:pPr>
            <a:r>
              <a:rPr sz="1425" b="1">
                <a:solidFill>
                  <a:srgbClr val="218B63"/>
                </a:solidFill>
              </a:rPr>
              <a:t>정성적 효과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8A53F5-FB49-4A3A-98B1-8A68F3B2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3862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• 검토자의 재대조 부담 감소</a:t>
            </a:r>
          </a:p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• 의견·근거·도면 위치의 연결</a:t>
            </a:r>
          </a:p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• 동일한 검토 형식과 가독성</a:t>
            </a:r>
          </a:p>
          <a:p xmlns:a="http://schemas.openxmlformats.org/drawingml/2006/main">
            <a:pPr algn="l">
              <a:defRPr sz="1275" b="0">
                <a:solidFill>
                  <a:srgbClr val="5D7088"/>
                </a:solidFill>
              </a:defRPr>
            </a:pPr>
            <a:r>
              <a:rPr sz="1275" b="0">
                <a:solidFill>
                  <a:srgbClr val="5D7088"/>
                </a:solidFill>
              </a:rPr>
              <a:t>• AI 결과를 전문가가 재확인 가능</a:t>
            </a:r>
          </a:p>
        </p:txBody>
      </p:sp>
    </p:spTree>
    <p:extLst>
      <p:ext uri="{BB962C8B-B14F-4D97-AF65-F5344CB8AC3E}">
        <p14:creationId xmlns:p14="http://schemas.microsoft.com/office/powerpoint/2010/main" val="2141315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BF24C-E367-489B-9A48-893E885C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6304C-6B3D-402A-AF10-0E5B819C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A7"/>
                </a:solidFill>
              </a:defRPr>
            </a:pPr>
            <a:r>
              <a:rPr sz="900" b="1">
                <a:solidFill>
                  <a:srgbClr val="147DA7"/>
                </a:solidFill>
              </a:rPr>
              <a:t>08  회고와 향후 목표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04BC8-239C-44E4-A334-7807D6A4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A55"/>
                </a:solidFill>
              </a:defRPr>
            </a:pPr>
            <a:r>
              <a:rPr sz="2700" b="1">
                <a:solidFill>
                  <a:srgbClr val="092A55"/>
                </a:solidFill>
              </a:rPr>
              <a:t>이번 프로젝트의 성과는 모델보다 “문제를 다시 정의한 것”이다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A01B0-C96C-41B0-B0D1-9CBC6432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ECD02-CFED-4060-9ED3-85706212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8"/>
                </a:solidFill>
              </a:defRPr>
            </a:pPr>
            <a:r>
              <a:rPr sz="750" b="0">
                <a:solidFill>
                  <a:srgbClr val="5D7088"/>
                </a:solidFill>
              </a:rPr>
              <a:t>Ai ENG Agent  ·  FutureM AI 활용전문가 과정  ·  2026.08.20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CC12F-F1EB-49AA-82ED-13B07808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088"/>
                </a:solidFill>
              </a:defRPr>
            </a:pPr>
            <a:r>
              <a:rPr sz="900" b="1">
                <a:solidFill>
                  <a:srgbClr val="5D7088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27A20-251E-4822-B3EE-47B1EA46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DA7"/>
                </a:solidFill>
              </a:defRPr>
            </a:pPr>
            <a:r>
              <a:rPr sz="1800" b="1">
                <a:solidFill>
                  <a:srgbClr val="147DA7"/>
                </a:solidFill>
              </a:rPr>
              <a:t>배운 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9F012-B8DE-4A49-B36C-A69EDCD4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2A55"/>
                </a:solidFill>
              </a:defRPr>
            </a:pPr>
            <a:r>
              <a:rPr sz="2025" b="1">
                <a:solidFill>
                  <a:srgbClr val="092A55"/>
                </a:solidFill>
              </a:rPr>
              <a:t>AI 도면 검토의 핵심은 더 긴 답변이 아니라,</a:t>
            </a:r>
          </a:p>
          <a:p xmlns:a="http://schemas.openxmlformats.org/drawingml/2006/main">
            <a:pPr algn="l">
              <a:defRPr sz="2025" b="1">
                <a:solidFill>
                  <a:srgbClr val="092A55"/>
                </a:solidFill>
              </a:defRPr>
            </a:pPr>
            <a:r>
              <a:rPr sz="2025" b="1">
                <a:solidFill>
                  <a:srgbClr val="092A55"/>
                </a:solidFill>
              </a:rPr>
              <a:t>검토자가 다시 확인할 수 있는 근거 구조였다.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4CB9B-3F2D-46B3-8E93-B521579F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014B3-76A1-4AF8-8433-833C0026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8B63"/>
                </a:solidFill>
              </a:defRPr>
            </a:pPr>
            <a:r>
              <a:rPr sz="1800" b="1">
                <a:solidFill>
                  <a:srgbClr val="218B63"/>
                </a:solidFill>
              </a:rPr>
              <a:t>현재까지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B9B7C-98E5-4000-AEC0-583B2554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088"/>
                </a:solidFill>
              </a:defRPr>
            </a:pPr>
            <a:r>
              <a:rPr sz="1425" b="0">
                <a:solidFill>
                  <a:srgbClr val="5D7088"/>
                </a:solidFill>
              </a:rPr>
              <a:t>• 실제 PDF 기반 멀티모달 검토</a:t>
            </a:r>
          </a:p>
          <a:p xmlns:a="http://schemas.openxmlformats.org/drawingml/2006/main">
            <a:pPr algn="l">
              <a:defRPr sz="1425" b="0">
                <a:solidFill>
                  <a:srgbClr val="5D7088"/>
                </a:solidFill>
              </a:defRPr>
            </a:pPr>
            <a:r>
              <a:rPr sz="1425" b="0">
                <a:solidFill>
                  <a:srgbClr val="5D7088"/>
                </a:solidFill>
              </a:rPr>
              <a:t>• Gemini/Vertex AI·NVIDIA 듀얼 엔진</a:t>
            </a:r>
          </a:p>
          <a:p xmlns:a="http://schemas.openxmlformats.org/drawingml/2006/main">
            <a:pPr algn="l">
              <a:defRPr sz="1425" b="0">
                <a:solidFill>
                  <a:srgbClr val="5D7088"/>
                </a:solidFill>
              </a:defRPr>
            </a:pPr>
            <a:r>
              <a:rPr sz="1425" b="0">
                <a:solidFill>
                  <a:srgbClr val="5D7088"/>
                </a:solidFill>
              </a:rPr>
              <a:t>• 로컬 법규 검색·Supabase pgvector RAG</a:t>
            </a:r>
          </a:p>
          <a:p xmlns:a="http://schemas.openxmlformats.org/drawingml/2006/main">
            <a:pPr algn="l">
              <a:defRPr sz="1425" b="0">
                <a:solidFill>
                  <a:srgbClr val="5D7088"/>
                </a:solidFill>
              </a:defRPr>
            </a:pPr>
            <a:r>
              <a:rPr sz="1425" b="0">
                <a:solidFill>
                  <a:srgbClr val="5D7088"/>
                </a:solidFill>
              </a:rPr>
              <a:t>• Rule Engine 수치 검증</a:t>
            </a:r>
          </a:p>
          <a:p xmlns:a="http://schemas.openxmlformats.org/drawingml/2006/main">
            <a:pPr algn="l">
              <a:defRPr sz="1425" b="0">
                <a:solidFill>
                  <a:srgbClr val="5D7088"/>
                </a:solidFill>
              </a:defRPr>
            </a:pPr>
            <a:r>
              <a:rPr sz="1425" b="0">
                <a:solidFill>
                  <a:srgbClr val="5D7088"/>
                </a:solidFill>
              </a:rPr>
              <a:t>• 주석·워크스페이스·통합보고서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0EC62-93FE-45F8-AFC2-7E878BC7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8B1E"/>
                </a:solidFill>
              </a:defRPr>
            </a:pPr>
            <a:r>
              <a:rPr sz="1800" b="1">
                <a:solidFill>
                  <a:srgbClr val="D88B1E"/>
                </a:solidFill>
              </a:rPr>
              <a:t>다음 단계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90A11-9DE7-4D99-B75D-D7B6C425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088"/>
                </a:solidFill>
              </a:defRPr>
            </a:pPr>
            <a:r>
              <a:rPr sz="1425" b="0">
                <a:solidFill>
                  <a:srgbClr val="5D7088"/>
                </a:solidFill>
              </a:rPr>
              <a:t>• Vercel 배포환경 Vertex AI 인증 안정화</a:t>
            </a:r>
          </a:p>
          <a:p xmlns:a="http://schemas.openxmlformats.org/drawingml/2006/main">
            <a:pPr algn="l">
              <a:defRPr sz="1425" b="0">
                <a:solidFill>
                  <a:srgbClr val="5D7088"/>
                </a:solidFill>
              </a:defRPr>
            </a:pPr>
            <a:r>
              <a:rPr sz="1425" b="0">
                <a:solidFill>
                  <a:srgbClr val="5D7088"/>
                </a:solidFill>
              </a:rPr>
              <a:t>• 법규 원문·시행일·개정 이력 DB화</a:t>
            </a:r>
          </a:p>
          <a:p xmlns:a="http://schemas.openxmlformats.org/drawingml/2006/main">
            <a:pPr algn="l">
              <a:defRPr sz="1425" b="0">
                <a:solidFill>
                  <a:srgbClr val="5D7088"/>
                </a:solidFill>
              </a:defRPr>
            </a:pPr>
            <a:r>
              <a:rPr sz="1425" b="0">
                <a:solidFill>
                  <a:srgbClr val="5D7088"/>
                </a:solidFill>
              </a:rPr>
              <a:t>• Hybrid Search·Reranker·GraphRAG</a:t>
            </a:r>
          </a:p>
          <a:p xmlns:a="http://schemas.openxmlformats.org/drawingml/2006/main">
            <a:pPr algn="l">
              <a:defRPr sz="1425" b="0">
                <a:solidFill>
                  <a:srgbClr val="5D7088"/>
                </a:solidFill>
              </a:defRPr>
            </a:pPr>
            <a:r>
              <a:rPr sz="1425" b="0">
                <a:solidFill>
                  <a:srgbClr val="5D7088"/>
                </a:solidFill>
              </a:rPr>
              <a:t>• 분야별 Agent 및 MCP Tool 외부화</a:t>
            </a:r>
          </a:p>
          <a:p xmlns:a="http://schemas.openxmlformats.org/drawingml/2006/main">
            <a:pPr algn="l">
              <a:defRPr sz="1425" b="0">
                <a:solidFill>
                  <a:srgbClr val="5D7088"/>
                </a:solidFill>
              </a:defRPr>
            </a:pPr>
            <a:r>
              <a:rPr sz="1425" b="0">
                <a:solidFill>
                  <a:srgbClr val="5D7088"/>
                </a:solidFill>
              </a:rPr>
              <a:t>• 실제 검토자 피드백 기반 회귀 테스트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4CB9C-937F-4FA4-A219-EE3EF1AF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668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92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CF959-32A4-44A1-B68D-7A0472E8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도면을 읽는 AI에서, 근거를 남기는 엔지니어링 Agent로</a:t>
            </a:r>
          </a:p>
        </p:txBody>
      </p:sp>
    </p:spTree>
    <p:extLst>
      <p:ext uri="{BB962C8B-B14F-4D97-AF65-F5344CB8AC3E}">
        <p14:creationId xmlns:p14="http://schemas.microsoft.com/office/powerpoint/2010/main" val="766401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2026-08-19T03:06:26.9080000Z</dcterms:created>
  <dcterms:modified xsi:type="dcterms:W3CDTF">2026-08-19T03:06:26.9080000Z</dcterms:modified>
</coreProperties>
</file>